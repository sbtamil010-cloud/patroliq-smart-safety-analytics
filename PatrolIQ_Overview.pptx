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5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41A45"/>
                </a:solidFill>
                <a:latin typeface="Calibri"/>
              </a:rPr>
              <a:t>Silhouette Score (higher = better separation)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Silhouette Score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4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8E24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Geographic
(Hierarchical)</c:v>
                  </c:pt>
                  <c:pt idx="1">
                    <c:v>Temporal
(K-Means, k=5)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0.414</c:v>
                </c:pt>
                <c:pt idx="1">
                  <c:v>0.266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41A4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9525" cap="flat">
              <a:solidFill>
                <a:srgbClr val="E4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Variance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8E24"/>
              </a:solidFill>
              <a:effectLst/>
            </c:spPr>
          </c:dPt>
          <c:dPt>
            <c:idx val="1"/>
            <c:bubble3D val="0"/>
            <c:spPr>
              <a:solidFill>
                <a:srgbClr val="44507A"/>
              </a:solidFill>
              <a:effectLst/>
            </c:spPr>
          </c:dPt>
          <c:dLbls>
            <c:dLbl>
              <c:idx val="0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&quot;%&quot;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Explained by PCA</c:v>
                </c:pt>
                <c:pt idx="1">
                  <c:v>Residual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82.7</c:v>
                </c:pt>
                <c:pt idx="1">
                  <c:v>17.3</c:v>
                </c:pt>
              </c:numCache>
            </c:numRef>
          </c:val>
        </c:ser>
        <c:firstSliceAng val="0"/>
        <c:holeSize val="65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943600" cy="59436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548640"/>
            <a:ext cx="3840480" cy="3840480"/>
          </a:xfrm>
          <a:prstGeom prst="ellipse">
            <a:avLst/>
          </a:prstGeom>
          <a:solidFill>
            <a:srgbClr val="44507A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74320"/>
            <a:ext cx="2194560" cy="2194560"/>
          </a:xfrm>
          <a:prstGeom prst="ellipse">
            <a:avLst/>
          </a:prstGeom>
          <a:solidFill>
            <a:srgbClr val="CADCFC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&amp; URBAN ANALYTICS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23317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PatrolIQ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Safety Analytics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416052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machine learning over 500,000 Chicago crime records — turning raw incident data into geographic and temporal patrol intelligence.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5257800"/>
            <a:ext cx="1097280" cy="0"/>
          </a:xfrm>
          <a:prstGeom prst="line">
            <a:avLst/>
          </a:prstGeom>
          <a:noFill/>
          <a:ln w="31750">
            <a:solidFill>
              <a:srgbClr val="D98E2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5394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Yogesh Kumar V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760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D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Streamlit  ·  scikit-learn  ·  MLflow  ·  Plotly  ·  Folium  ·  UMAP  ·  HDBSCAN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should we patrol tonight?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577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crime-intelligence analyst at the Chicago Police Department, three questions drive every resourcing decision — and none of them are answerable by scanning spreadsheets.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2944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neighborhoods and blocks are genuinely high-risk, versus just high-volume?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9319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390448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420624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hours, days, and seasons concentrate the most incidents?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8920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892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48646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51663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crime types dominate, and how severe are they?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537960" y="1600200"/>
            <a:ext cx="5074920" cy="4434840"/>
          </a:xfrm>
          <a:prstGeom prst="roundRect">
            <a:avLst>
              <a:gd name="adj" fmla="val 1649"/>
            </a:avLst>
          </a:prstGeom>
          <a:solidFill>
            <a:srgbClr val="F4F6FB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OF THE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03720" y="24231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7.8M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8366760" y="24963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in the Chicago crime dataset (2001–present)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903720" y="335584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66760" y="34290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records sampled for analysis, stratified by time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903720" y="428853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8366760" y="43616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crime categories tracked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03720" y="522122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yrs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366760" y="5294376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coverage (2001–2025), analysis focused on 2010+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incidents to patrol intelligence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Sample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outlier clipping, datetime parsing, time-stratified 500K sample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values, duplicates, geo-bounds &amp; crime-category integrity checks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58200" y="2148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458200" y="2651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58200" y="3017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scoring, season/weekend/time-of-day, label encoding, geo pre-clustering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(EDA)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Crime-type distributions, geographic + temporal trend analysis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0" y="4251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61772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&amp; Reduce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17720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/ DBSCAN / Hierarchical hotspots, PCA / t-SNE / UMAP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0" y="4251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1E2761">
              <a:alpha val="75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58200" y="4434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8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45820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Serve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58200" y="530352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experiment tracking feeding a 6-page Streamlit dashboard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a model-ready feature set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incident records carry a timestamp, a location, and a crime type. Feature engineering turns those three fields into 19 model-ready signals.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35808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169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(Winter/Spring/Summer/Fall)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694176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57530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IsWeekend flag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352544"/>
            <a:ext cx="82296" cy="822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2336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4-bucket Time-of-Day (Night/Morning/Afternoon/Evening)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2331720"/>
            <a:ext cx="3520440" cy="73152"/>
          </a:xfrm>
          <a:prstGeom prst="rect">
            <a:avLst/>
          </a:prstGeom>
          <a:solidFill>
            <a:srgbClr val="D98E24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&amp; Category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343400" y="3035808"/>
            <a:ext cx="82296" cy="82296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29169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0–5 severity score across 31 crime types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43400" y="3694176"/>
            <a:ext cx="82296" cy="82296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357530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Label-encoded crime type &amp; location description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2331720"/>
            <a:ext cx="3520440" cy="73152"/>
          </a:xfrm>
          <a:prstGeom prst="rect">
            <a:avLst/>
          </a:prstGeom>
          <a:solidFill>
            <a:srgbClr val="3F8F6B"/>
          </a:solidFill>
          <a:ln/>
        </p:spPr>
      </p:sp>
      <p:sp>
        <p:nvSpPr>
          <p:cNvPr id="20" name="Text 18"/>
          <p:cNvSpPr/>
          <p:nvPr/>
        </p:nvSpPr>
        <p:spPr>
          <a:xfrm>
            <a:off x="8138160" y="251460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38160" y="3035808"/>
            <a:ext cx="82296" cy="82296"/>
          </a:xfrm>
          <a:prstGeom prst="ellipse">
            <a:avLst/>
          </a:prstGeom>
          <a:solidFill>
            <a:srgbClr val="3F8F6B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916936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12-cluster KMeans geo pre-clustering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138160" y="3694176"/>
            <a:ext cx="82296" cy="82296"/>
          </a:xfrm>
          <a:prstGeom prst="ellipse">
            <a:avLst/>
          </a:prstGeom>
          <a:solidFill>
            <a:srgbClr val="3F8F6B"/>
          </a:solidFill>
          <a:ln/>
        </p:spPr>
      </p:sp>
      <p:sp>
        <p:nvSpPr>
          <p:cNvPr id="24" name="Text 22"/>
          <p:cNvSpPr/>
          <p:nvPr/>
        </p:nvSpPr>
        <p:spPr>
          <a:xfrm>
            <a:off x="8366760" y="3575304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20-bucket quantile lat/lon binning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4352544"/>
            <a:ext cx="82296" cy="82296"/>
          </a:xfrm>
          <a:prstGeom prst="ellipse">
            <a:avLst/>
          </a:prstGeom>
          <a:solidFill>
            <a:srgbClr val="3F8F6B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233672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 normalized coordinates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and the geo-clustering model are persisted with joblib — built for reuse at inference time on new incidents, not just a one-off batch transform.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MLFLOW-LOGGED 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hotspots vs. temporal patterns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clustering algorithms were evaluated for geographic hotspot detection (K-Means, DBSCAN, Hierarchical); K-Means was used for temporal pattern discovery on (Hour, Weekday, Month).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28600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233172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7" name="Text 4"/>
          <p:cNvSpPr/>
          <p:nvPr/>
        </p:nvSpPr>
        <p:spPr>
          <a:xfrm>
            <a:off x="6355080" y="242316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8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0.85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772400" y="24505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Davies–Bouldin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27706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Sub-1.0 — reasonably compact, well-separated clusters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26480" y="356616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1" name="Text 8"/>
          <p:cNvSpPr/>
          <p:nvPr/>
        </p:nvSpPr>
        <p:spPr>
          <a:xfrm>
            <a:off x="6355080" y="365760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B74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175s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772400" y="36850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K-Means runtime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0" y="400507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500K-row sample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126480" y="4800600"/>
            <a:ext cx="5486400" cy="1051560"/>
          </a:xfrm>
          <a:prstGeom prst="roundRect">
            <a:avLst>
              <a:gd name="adj" fmla="val 6957"/>
            </a:avLst>
          </a:prstGeom>
          <a:solidFill>
            <a:srgbClr val="F4F6FB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4892040"/>
            <a:ext cx="1371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5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772400" y="49194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temporal model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523951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selected over 3–8 candidate range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DISCOVERY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Compressing 19 features without losing the signal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4206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3832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82.7%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3977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explained by PCA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212080" y="187452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24"/>
          </a:solidFill>
          <a:ln/>
        </p:spPr>
      </p:sp>
      <p:sp>
        <p:nvSpPr>
          <p:cNvPr id="8" name="Text 5"/>
          <p:cNvSpPr/>
          <p:nvPr/>
        </p:nvSpPr>
        <p:spPr>
          <a:xfrm>
            <a:off x="5623560" y="173736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the 19-feature model-ready table well past the 70% variance target set for the project (82.7% achieved, against an 80% threshold parameter).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12080" y="292608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24"/>
          </a:solidFill>
          <a:ln/>
        </p:spPr>
      </p:sp>
      <p:sp>
        <p:nvSpPr>
          <p:cNvPr id="10" name="Text 7"/>
          <p:cNvSpPr/>
          <p:nvPr/>
        </p:nvSpPr>
        <p:spPr>
          <a:xfrm>
            <a:off x="5623560" y="27889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t-SNE and UMAP projections give a 2D view of how crime records cluster in feature space — useful for spotting outlier incidents PCA alone would miss.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212080" y="397764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24"/>
          </a:solidFill>
          <a:ln/>
        </p:spPr>
      </p:sp>
      <p:sp>
        <p:nvSpPr>
          <p:cNvPr id="12" name="Text 9"/>
          <p:cNvSpPr/>
          <p:nvPr/>
        </p:nvSpPr>
        <p:spPr>
          <a:xfrm>
            <a:off x="5623560" y="3840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Feature-importance ranking surfaces which of the 19 engineered features actually drive separation between clusters, guiding which signals matter most operationally.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212080" y="5029200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D98E24"/>
          </a:solidFill>
          <a:ln/>
        </p:spPr>
      </p:sp>
      <p:sp>
        <p:nvSpPr>
          <p:cNvPr id="14" name="Text 11"/>
          <p:cNvSpPr/>
          <p:nvPr/>
        </p:nvSpPr>
        <p:spPr>
          <a:xfrm>
            <a:off x="5623560" y="489204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D6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Dimensionality-reduction runs were flagged fast_mode=True in MLflow — worth re-validating on the full, non-sampled run before treating these as final numbers.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TRACKING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run, logged and comparable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(SQLite-backed) tracks parameters, metrics, and run history across every clustering and dimensionality-reduction experiment — enabling apples-to-apples model comparison over time.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64240" cy="1463040"/>
        </p:xfrm>
        <a:graphic>
          <a:graphicData uri="http://schemas.openxmlformats.org/drawingml/2006/table">
            <a:tbl>
              <a:tblPr/>
              <a:tblGrid>
                <a:gridCol w="2766060"/>
                <a:gridCol w="2766060"/>
                <a:gridCol w="2766060"/>
                <a:gridCol w="27660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PatrolIQ_Clustering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Finished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hotspot + temporal pattern clustering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PatrolIQ_Dimensionality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Finished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PCA variance / reconstruction tracking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44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MLflow built-in default (unused)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LOGGED PER RUN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45720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 — k ranges, chosen k, fast_mode flag, variance thresholds, record counts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029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50292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— silhouette score, Davies–Bouldin index, PCA explained variance, runtime (sec)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54864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5486400"/>
            <a:ext cx="10241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 — which algorithm (K-Means / DBSCAN / Hierarchical) was ultimately chosen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six-page operational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metrics, feature overview, quick-start guide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Hierarchical hotspots + algorithm comparison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691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1920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58200" y="2880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/ weekly / seasonal trends, peak danger-time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 projections + feature importance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1772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772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Insights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617720" y="5166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Crime-type, geographic &amp; temporal distributions, arrest correlation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97764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5820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845820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458200" y="4800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Heatmaps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51663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heatmap, cluster centers, hotspot coordinates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this serves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201168" cy="201168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057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 Departments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patrol routes and shift resourcing around data-backed hotspots and peak hours.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148840"/>
            <a:ext cx="201168" cy="201168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10" name="Text 8"/>
          <p:cNvSpPr/>
          <p:nvPr/>
        </p:nvSpPr>
        <p:spPr>
          <a:xfrm>
            <a:off x="6995160" y="2057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Administrations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629400" y="2651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budget and infrastructure decisions with defensible urban-safety analysis.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4434840"/>
            <a:ext cx="201168" cy="201168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Firms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14400" y="4937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crime-intelligence dashboards or predictive-policing tooling as a service.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4114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1E2761">
              <a:alpha val="80000"/>
            </a:srgbClr>
          </a:solidFill>
          <a:ln w="12700">
            <a:solidFill>
              <a:srgbClr val="4450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4434840"/>
            <a:ext cx="201168" cy="201168"/>
          </a:xfrm>
          <a:prstGeom prst="ellipse">
            <a:avLst/>
          </a:prstGeom>
          <a:solidFill>
            <a:srgbClr val="D98E24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43434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629400" y="49377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dispatch and multi-agency coordination around known risk windows.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3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STATUS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1A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solid, and what's still open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F8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3F8F6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385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preprocessing → validation → feature engineering → EDA pipeline implemented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803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3F8F6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614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 tracking populated with 6 real, finished experiment runs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03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3F8F6B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844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Streamlit dashboard covering clustering, temporal, DR, EDA, geo &amp; MLflow views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262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3F8F6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074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Thorough data-validation logic: geo bounds, crime taxonomy, date sanity, arrest integrity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34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OPEN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205740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3452F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193852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Raw/processed data &amp; models/ directories not included — pipeline needs source data to run end-to-end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288036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3452F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76148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Checked-in validation report reflects an unresolved Git-LFS pointer, not real data — needs re-run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370332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3452F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58444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src/models/ reusable modules (documented) don't exist — logic lives inside Streamlit pages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63640" y="4526280"/>
            <a:ext cx="219456" cy="219456"/>
          </a:xfrm>
          <a:prstGeom prst="roundRect">
            <a:avLst>
              <a:gd name="adj" fmla="val 20833"/>
            </a:avLst>
          </a:prstGeom>
          <a:solidFill>
            <a:srgbClr val="B3452F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407408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44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deployment/ configs (Streamlit Cloud, GitHub Actions, perf tests) are empty placeholders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53212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PROJECT_INSIGHTS.md for the full audit, including a run-by-run metrics breakdown and a prioritized fix list.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389120"/>
            <a:ext cx="3200400" cy="3200400"/>
          </a:xfrm>
          <a:prstGeom prst="ellipse">
            <a:avLst/>
          </a:prstGeom>
          <a:solidFill>
            <a:srgbClr val="44507A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“Turning raw data into actionable safety intelligence.”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PatrolIQ — Smart Safety Analytics Platform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D97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Yogesh Kumar V  ·  github.com/&lt;your-username&gt;/PatrolIQ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2026-08-15T09:25:01Z</dcterms:created>
  <dcterms:modified xsi:type="dcterms:W3CDTF">2026-08-15T09:25:01Z</dcterms:modified>
</cp:coreProperties>
</file>